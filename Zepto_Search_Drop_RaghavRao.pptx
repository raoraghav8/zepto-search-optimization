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Search Drop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926080" y="2651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4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· Search Conversion Case Study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 Rao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5EFE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 is an Indian quick commerce platform that delivers groceries in under 10 minutes. It competes in the urban grocery delivery market using dark stores and a tech-driven supply chain against Blinkit, Swiggy Instamart, BigBasket, and others.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474720" cy="0"/>
          </a:xfrm>
          <a:prstGeom prst="line">
            <a:avLst/>
          </a:prstGeom>
          <a:noFill/>
          <a:ln w="12700">
            <a:solidFill>
              <a:srgbClr val="C0B0D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Search Drop for Improved Add-to-Cart Conversion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297680" cy="3291840"/>
          </a:xfrm>
          <a:prstGeom prst="roundRect">
            <a:avLst>
              <a:gd name="adj" fmla="val 3333"/>
            </a:avLst>
          </a:prstGeom>
          <a:solidFill>
            <a:srgbClr val="F5EFE6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14173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Zepto's Search to Add-to-Cart conversion dropped by 10% over the past 4 weeks, leading to a daily revenue loss of ₹3.6–3.8 crore — directly impacting high-speed deliveries and inventory management.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03520" y="2468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02920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Search-to-Cart Conversion Drop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Hypotheses &amp; Root Causes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955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Out-of-Stock Items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items appear OOS in results.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auto-substitution or 'Back in Stock' tag.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OOS rate among top 100 SKUs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731520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7955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Auto-Applied Filters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07899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like 'Offers only' default 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 'No products found' despite stock.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% zero-result searches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2103120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1671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Add-to-Cart CTA Visibility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45059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positioned below fold; small on mobile.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scroll depth before any CTA click.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Add-to-cart clicks per session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103120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1671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🌴  Seasonal Preference Shift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45059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logic ignores seasonality.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data powers personalization engine.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Conversion rate by seasonal category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474720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5387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Result Relevance Drop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82219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change or poor SKU tagging.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alignment with past user behavior.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CTR &amp; bounce rate from search page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474720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5387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🏄  Casual Browser Sessions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82219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are in explore mode, not buy mode.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nudges to convert exploration to purchase.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Session duration vs cart additions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280160"/>
          </a:xfrm>
          <a:prstGeom prst="roundRect">
            <a:avLst>
              <a:gd name="adj" fmla="val 7143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955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1. Hide or Substitute Out-of-Stock Items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encounter unavailable items, causing friction and drop-offs.  </a:t>
            </a:r>
            <a:pPr indent="0" marL="0"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OOS items; show 'Back in Stock Soon' tag or auto-suggest substitutes.  </a:t>
            </a:r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OOS rate among top 100 SKUs · Clicks on OOS items yield zero conversions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2167128"/>
            <a:ext cx="8686800" cy="1280160"/>
          </a:xfrm>
          <a:prstGeom prst="roundRect">
            <a:avLst>
              <a:gd name="adj" fmla="val 7143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2128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2. Improve Visibility of 'Add to Cart' 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miss CTAs due to poor placement or visibility, especially on mobile.  </a:t>
            </a:r>
            <a:pPr indent="0" marL="0"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'Add to Cart' button on product tiles; increase size/contrast per Fitts' Law.  </a:t>
            </a:r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add-to-cart clicks despite high search engagement · High scroll depth before CTA clicks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3584448"/>
            <a:ext cx="8686800" cy="1280160"/>
          </a:xfrm>
          <a:prstGeom prst="roundRect">
            <a:avLst>
              <a:gd name="adj" fmla="val 7143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630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3. Rerank Search Results Using Past Behavior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search results reduce conversion likelihood.  </a:t>
            </a:r>
            <a:pPr indent="0" marL="0"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ranking using past orders/carts; promote frequently bought items.  </a:t>
            </a:r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on top search results has declined · Repeat users account for majority of sessions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D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280160"/>
          </a:xfrm>
          <a:prstGeom prst="roundRect">
            <a:avLst>
              <a:gd name="adj" fmla="val 7143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955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4. Improve Filter UX &amp; Default States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Auto-applied filters lead to 'No results' and user frustration.  </a:t>
            </a:r>
            <a:pPr indent="0" marL="0"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apply filters by default. If no results found, prompt 'Try clearing filters?'  </a:t>
            </a:r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in zero-result search sessions · Low filter interaction rate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2167128"/>
            <a:ext cx="8686800" cy="1280160"/>
          </a:xfrm>
          <a:prstGeom prst="roundRect">
            <a:avLst>
              <a:gd name="adj" fmla="val 7143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2128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5. Highlight Seasonal &amp; Trending Items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 shift with seasons (e.g., mangoes in summer).  </a:t>
            </a:r>
            <a:pPr indent="0" marL="0"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seasonal suggestions and trending items in auto-complete with 'Popular this week' labels.  </a:t>
            </a:r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items show lower visibility but higher conversion · High seasonal search queries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3584448"/>
            <a:ext cx="8686800" cy="1280160"/>
          </a:xfrm>
          <a:prstGeom prst="roundRect">
            <a:avLst>
              <a:gd name="adj" fmla="val 7143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630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6. Optimize Search Performance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in search results leads to abandonment.  </a:t>
            </a:r>
            <a:pPr indent="0" marL="0"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backend latency via better caching; preload frequent search queries.  </a:t>
            </a:r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bounce rate from search during peak hours · Increased latency in performance logs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2834640" cy="4251960"/>
          </a:xfrm>
          <a:prstGeom prst="roundRect">
            <a:avLst>
              <a:gd name="adj" fmla="val 3871"/>
            </a:avLst>
          </a:prstGeom>
          <a:solidFill>
            <a:srgbClr val="F5EFE6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85800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5A2D9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0408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4140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798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&amp; night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3182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4107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snacks casually · See trending / seasonal deals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413308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Overly filtered search returns no results · Unclear product images · Wants engaging UI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685800"/>
            <a:ext cx="2834640" cy="4251960"/>
          </a:xfrm>
          <a:prstGeom prst="roundRect">
            <a:avLst>
              <a:gd name="adj" fmla="val 3871"/>
            </a:avLst>
          </a:prstGeom>
          <a:solidFill>
            <a:srgbClr val="F5EFE6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685800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5A2D9C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70408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Anju Sharma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1261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1645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2029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Homemaker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24140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Android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2798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Mid-morning &amp; early afternoon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3182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4107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fresh fruits, veggies &amp; household essentials · Timely one-stop delivery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0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13308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Auto-filters cause 'No products found' · Inconsistent product images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91072" y="685800"/>
            <a:ext cx="2834640" cy="4251960"/>
          </a:xfrm>
          <a:prstGeom prst="roundRect">
            <a:avLst>
              <a:gd name="adj" fmla="val 3871"/>
            </a:avLst>
          </a:prstGeom>
          <a:solidFill>
            <a:srgbClr val="F5EFE6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91072" y="685800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5A2D9C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70408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Kumar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28232" y="1261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28232" y="1645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28232" y="2029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Executive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28232" y="24140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28232" y="2798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</a:t>
            </a:r>
            <a:pPr indent="0" marL="0">
              <a:buNone/>
            </a:pPr>
            <a:r>
              <a:rPr lang="en-US" sz="10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&amp; late evening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28232" y="3182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28232" y="34107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reorder essential groceries · Trust that favorites are available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28232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28232" y="413308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results for common items (milk, bread) · Hard-to-spot Add-to-Cart button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828800" y="10972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Prioritisation Matrix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58368"/>
          <a:ext cx="8595360" cy="4206240"/>
        </p:xfrm>
        <a:graphic>
          <a:graphicData uri="http://schemas.openxmlformats.org/drawingml/2006/table">
            <a:tbl>
              <a:tblPr/>
              <a:tblGrid>
                <a:gridCol w="685800"/>
                <a:gridCol w="2560320"/>
                <a:gridCol w="822960"/>
                <a:gridCol w="822960"/>
                <a:gridCol w="1051560"/>
                <a:gridCol w="822960"/>
                <a:gridCol w="10058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D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D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D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D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D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D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D9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 Add to Cart CTA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Hide/Substitute OOS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Search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Filter 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8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Season/Trend Highlights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8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Search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8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82880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 — Mohit Kumar (Working Professional)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566928"/>
            <a:ext cx="2057400" cy="347472"/>
          </a:xfrm>
          <a:prstGeom prst="rect">
            <a:avLst/>
          </a:prstGeom>
          <a:solidFill>
            <a:srgbClr val="5A2D9C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5760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Initiated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31720" y="566928"/>
            <a:ext cx="2057400" cy="347472"/>
          </a:xfrm>
          <a:prstGeom prst="rect">
            <a:avLst/>
          </a:prstGeom>
          <a:solidFill>
            <a:srgbClr val="5A2D9C"/>
          </a:solidFill>
          <a:ln/>
        </p:spPr>
      </p:sp>
      <p:sp>
        <p:nvSpPr>
          <p:cNvPr id="7" name="Text 5"/>
          <p:cNvSpPr/>
          <p:nvPr/>
        </p:nvSpPr>
        <p:spPr>
          <a:xfrm>
            <a:off x="2331720" y="5760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 Window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566928"/>
            <a:ext cx="2057400" cy="347472"/>
          </a:xfrm>
          <a:prstGeom prst="rect">
            <a:avLst/>
          </a:prstGeom>
          <a:solidFill>
            <a:srgbClr val="5A2D9C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5760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Selection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37960" y="566928"/>
            <a:ext cx="2057400" cy="347472"/>
          </a:xfrm>
          <a:prstGeom prst="rect">
            <a:avLst/>
          </a:prstGeom>
          <a:solidFill>
            <a:srgbClr val="5A2D9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5760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Add-to-Cart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987552"/>
            <a:ext cx="960120" cy="640080"/>
          </a:xfrm>
          <a:prstGeom prst="rect">
            <a:avLst/>
          </a:prstGeom>
          <a:solidFill>
            <a:srgbClr val="5A2D9C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98755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34440" y="987552"/>
            <a:ext cx="1901952" cy="6400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1005840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open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82112" y="987552"/>
            <a:ext cx="1901952" cy="6400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17" name="Text 15"/>
          <p:cNvSpPr/>
          <p:nvPr/>
        </p:nvSpPr>
        <p:spPr>
          <a:xfrm>
            <a:off x="3227832" y="1005840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look for item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29784" y="987552"/>
            <a:ext cx="1901952" cy="6400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19" name="Text 17"/>
          <p:cNvSpPr/>
          <p:nvPr/>
        </p:nvSpPr>
        <p:spPr>
          <a:xfrm>
            <a:off x="5175504" y="1005840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decides the item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77456" y="987552"/>
            <a:ext cx="1901952" cy="6400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1005840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 and order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1655064"/>
            <a:ext cx="960120" cy="640080"/>
          </a:xfrm>
          <a:prstGeom prst="rect">
            <a:avLst/>
          </a:prstGeom>
          <a:solidFill>
            <a:srgbClr val="5A2D9C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1655064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234440" y="1655064"/>
            <a:ext cx="1901952" cy="6400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1673352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 search icon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82112" y="1655064"/>
            <a:ext cx="1901952" cy="6400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27" name="Text 25"/>
          <p:cNvSpPr/>
          <p:nvPr/>
        </p:nvSpPr>
        <p:spPr>
          <a:xfrm>
            <a:off x="3227832" y="1673352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shown results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9784" y="1655064"/>
            <a:ext cx="1901952" cy="6400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29" name="Text 27"/>
          <p:cNvSpPr/>
          <p:nvPr/>
        </p:nvSpPr>
        <p:spPr>
          <a:xfrm>
            <a:off x="5175504" y="1673352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scrolling, decides what to buy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077456" y="1655064"/>
            <a:ext cx="1901952" cy="6400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31" name="Text 29"/>
          <p:cNvSpPr/>
          <p:nvPr/>
        </p:nvSpPr>
        <p:spPr>
          <a:xfrm>
            <a:off x="7123176" y="1673352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looking for Add-to-Cart button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2322576"/>
            <a:ext cx="960120" cy="640080"/>
          </a:xfrm>
          <a:prstGeom prst="rect">
            <a:avLst/>
          </a:prstGeom>
          <a:solidFill>
            <a:srgbClr val="5A2D9C"/>
          </a:solidFill>
          <a:ln/>
        </p:spPr>
      </p:sp>
      <p:sp>
        <p:nvSpPr>
          <p:cNvPr id="33" name="Text 31"/>
          <p:cNvSpPr/>
          <p:nvPr/>
        </p:nvSpPr>
        <p:spPr>
          <a:xfrm>
            <a:off x="228600" y="2322576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234440" y="2322576"/>
            <a:ext cx="1901952" cy="6400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35" name="Text 33"/>
          <p:cNvSpPr/>
          <p:nvPr/>
        </p:nvSpPr>
        <p:spPr>
          <a:xfrm>
            <a:off x="1280160" y="2340864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get groceries quickly"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82112" y="2322576"/>
            <a:ext cx="1901952" cy="6400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37" name="Text 35"/>
          <p:cNvSpPr/>
          <p:nvPr/>
        </p:nvSpPr>
        <p:spPr>
          <a:xfrm>
            <a:off x="3227832" y="2340864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my favorite brand?"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129784" y="2322576"/>
            <a:ext cx="1901952" cy="6400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39" name="Text 37"/>
          <p:cNvSpPr/>
          <p:nvPr/>
        </p:nvSpPr>
        <p:spPr>
          <a:xfrm>
            <a:off x="5175504" y="2340864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me quickly order this."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077456" y="2322576"/>
            <a:ext cx="1901952" cy="6400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41" name="Text 39"/>
          <p:cNvSpPr/>
          <p:nvPr/>
        </p:nvSpPr>
        <p:spPr>
          <a:xfrm>
            <a:off x="7123176" y="2340864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the Add-to-Cart? Why can't I see it?"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8600" y="2990088"/>
            <a:ext cx="960120" cy="640080"/>
          </a:xfrm>
          <a:prstGeom prst="rect">
            <a:avLst/>
          </a:prstGeom>
          <a:solidFill>
            <a:srgbClr val="5A2D9C"/>
          </a:solidFill>
          <a:ln/>
        </p:spPr>
      </p:sp>
      <p:sp>
        <p:nvSpPr>
          <p:cNvPr id="43" name="Text 41"/>
          <p:cNvSpPr/>
          <p:nvPr/>
        </p:nvSpPr>
        <p:spPr>
          <a:xfrm>
            <a:off x="228600" y="299008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 (1–5)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234440" y="2990088"/>
            <a:ext cx="1901952" cy="6400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45" name="Text 43"/>
          <p:cNvSpPr/>
          <p:nvPr/>
        </p:nvSpPr>
        <p:spPr>
          <a:xfrm>
            <a:off x="1280160" y="3008376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5 — Positive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182112" y="2990088"/>
            <a:ext cx="1901952" cy="6400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47" name="Text 45"/>
          <p:cNvSpPr/>
          <p:nvPr/>
        </p:nvSpPr>
        <p:spPr>
          <a:xfrm>
            <a:off x="3227832" y="3008376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😕 3 — Frustrated but willing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129784" y="2990088"/>
            <a:ext cx="1901952" cy="6400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49" name="Text 47"/>
          <p:cNvSpPr/>
          <p:nvPr/>
        </p:nvSpPr>
        <p:spPr>
          <a:xfrm>
            <a:off x="5175504" y="3008376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😄 4 — Happy to decide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077456" y="2990088"/>
            <a:ext cx="1901952" cy="6400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51" name="Text 49"/>
          <p:cNvSpPr/>
          <p:nvPr/>
        </p:nvSpPr>
        <p:spPr>
          <a:xfrm>
            <a:off x="7123176" y="3008376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 2 — Halted at final step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8600" y="3657600"/>
            <a:ext cx="960120" cy="640080"/>
          </a:xfrm>
          <a:prstGeom prst="rect">
            <a:avLst/>
          </a:prstGeom>
          <a:solidFill>
            <a:srgbClr val="5A2D9C"/>
          </a:solidFill>
          <a:ln/>
        </p:spPr>
      </p:sp>
      <p:sp>
        <p:nvSpPr>
          <p:cNvPr id="53" name="Text 51"/>
          <p:cNvSpPr/>
          <p:nvPr/>
        </p:nvSpPr>
        <p:spPr>
          <a:xfrm>
            <a:off x="228600" y="365760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234440" y="3657600"/>
            <a:ext cx="1901952" cy="6400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55" name="Text 53"/>
          <p:cNvSpPr/>
          <p:nvPr/>
        </p:nvSpPr>
        <p:spPr>
          <a:xfrm>
            <a:off x="1280160" y="3675888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182112" y="3657600"/>
            <a:ext cx="1901952" cy="6400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57" name="Text 55"/>
          <p:cNvSpPr/>
          <p:nvPr/>
        </p:nvSpPr>
        <p:spPr>
          <a:xfrm>
            <a:off x="3227832" y="3675888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not on top · OOS shown · No results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129784" y="3657600"/>
            <a:ext cx="1901952" cy="6400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59" name="Text 57"/>
          <p:cNvSpPr/>
          <p:nvPr/>
        </p:nvSpPr>
        <p:spPr>
          <a:xfrm>
            <a:off x="5175504" y="3675888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077456" y="3657600"/>
            <a:ext cx="1901952" cy="6400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61" name="Text 59"/>
          <p:cNvSpPr/>
          <p:nvPr/>
        </p:nvSpPr>
        <p:spPr>
          <a:xfrm>
            <a:off x="7123176" y="3675888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Hard-to-spot Add-to-Cart button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28600" y="4325112"/>
            <a:ext cx="960120" cy="640080"/>
          </a:xfrm>
          <a:prstGeom prst="rect">
            <a:avLst/>
          </a:prstGeom>
          <a:solidFill>
            <a:srgbClr val="5A2D9C"/>
          </a:solidFill>
          <a:ln/>
        </p:spPr>
      </p:sp>
      <p:sp>
        <p:nvSpPr>
          <p:cNvPr id="63" name="Text 61"/>
          <p:cNvSpPr/>
          <p:nvPr/>
        </p:nvSpPr>
        <p:spPr>
          <a:xfrm>
            <a:off x="228600" y="432511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234440" y="4325112"/>
            <a:ext cx="1901952" cy="6400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65" name="Text 63"/>
          <p:cNvSpPr/>
          <p:nvPr/>
        </p:nvSpPr>
        <p:spPr>
          <a:xfrm>
            <a:off x="1280160" y="4343400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CTA on tiles · Personalized recommendations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182112" y="4325112"/>
            <a:ext cx="1901952" cy="6400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67" name="Text 65"/>
          <p:cNvSpPr/>
          <p:nvPr/>
        </p:nvSpPr>
        <p:spPr>
          <a:xfrm>
            <a:off x="3227832" y="4343400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Hide/substitute OOS · Prompt to clear filters · Remove default filters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129784" y="4325112"/>
            <a:ext cx="1901952" cy="6400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69" name="Text 67"/>
          <p:cNvSpPr/>
          <p:nvPr/>
        </p:nvSpPr>
        <p:spPr>
          <a:xfrm>
            <a:off x="5175504" y="4343400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077456" y="4325112"/>
            <a:ext cx="1901952" cy="6400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71" name="Text 69"/>
          <p:cNvSpPr/>
          <p:nvPr/>
        </p:nvSpPr>
        <p:spPr>
          <a:xfrm>
            <a:off x="7123176" y="4343400"/>
            <a:ext cx="18105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size &amp; contrast of Add-to-Cart button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North Star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5A2D9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North Star Goal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Search-to-Cart conversion to pre-drop baseline within 6 weeks of rollout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8288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Search-to-Cart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pp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to 4-week pre-drop baseline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737360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8288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 Impact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12140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₹3.6–3.8 Cr recovered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25786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daily loss within 6 weeks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8288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Click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12140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25786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top 100 searched SKUs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3375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Zero-Result Sessions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6301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40873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returning no products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3246120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0" y="33375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Add-to-Cart CTR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6301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383280" y="40873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on sticky CTA vs old inline CTA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3246120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33375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Latency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6301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355080" y="40873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latency during peak hours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Plan — Sticky CTA (Priority #1)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114800" cy="2788920"/>
          </a:xfrm>
          <a:prstGeom prst="roundRect">
            <a:avLst>
              <a:gd name="adj" fmla="val 3279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8888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955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(Group A — 50%)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3840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Experience
</a:t>
            </a:r>
            <a:pPr indent="0" marL="0">
              <a:buNone/>
            </a:pPr>
            <a:r>
              <a:rPr lang="en-US" sz="110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Inline 'Add to Cart' button on product cards
</a:t>
            </a:r>
            <a:pPr indent="0" marL="0">
              <a:buNone/>
            </a:pPr>
            <a:r>
              <a:rPr lang="en-US" sz="110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button size and contrast
</a:t>
            </a:r>
            <a:pPr indent="0" marL="0">
              <a:buNone/>
            </a:pPr>
            <a:r>
              <a:rPr lang="en-US" sz="110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persistent CTA visible while scrolling
</a:t>
            </a:r>
            <a:pPr indent="0" marL="0">
              <a:buNone/>
            </a:pPr>
            <a:r>
              <a:rPr lang="en-US" sz="1100" b="1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Baseline: </a:t>
            </a:r>
            <a:pPr indent="0" marL="0">
              <a:buNone/>
            </a:pPr>
            <a:r>
              <a:rPr lang="en-US" sz="110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add-to-cart click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749808"/>
            <a:ext cx="4114800" cy="2788920"/>
          </a:xfrm>
          <a:prstGeom prst="roundRect">
            <a:avLst>
              <a:gd name="adj" fmla="val 3279"/>
            </a:avLst>
          </a:prstGeom>
          <a:solidFill>
            <a:srgbClr val="F5EFE6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749808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1A5C3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7955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 (Group B — 50%)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207008"/>
            <a:ext cx="3840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CTA Experience
</a:t>
            </a:r>
            <a:pPr indent="0" marL="0">
              <a:buNone/>
            </a:pPr>
            <a:r>
              <a:rPr lang="en-US" sz="110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'Add to Cart' button anchored to product tile
</a:t>
            </a:r>
            <a:pPr indent="0" marL="0">
              <a:buNone/>
            </a:pPr>
            <a:r>
              <a:rPr lang="en-US" sz="110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20% larger button, higher contrast color (Zepto pink)
</a:t>
            </a:r>
            <a:pPr indent="0" marL="0">
              <a:buNone/>
            </a:pPr>
            <a:r>
              <a:rPr lang="en-US" sz="110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Visible without scrolling to bottom of card
</a:t>
            </a:r>
            <a:pPr indent="0" marL="0">
              <a:buNone/>
            </a:pPr>
            <a:r>
              <a:rPr lang="en-US" sz="1100" b="1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Uplift: </a:t>
            </a:r>
            <a:pPr indent="0" marL="0">
              <a:buNone/>
            </a:pPr>
            <a:r>
              <a:rPr lang="en-US" sz="1100" dirty="0">
                <a:solidFill>
                  <a:srgbClr val="2D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+10–15% add-to-cart clicks; +5 pp search-to-cart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70332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5A2D9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8404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50,000 sessions/arm · ~1 week at current traffic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38404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Search-to-Cart conversion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Metrics: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Add-to-cart CTR, scroll depth, bounce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4074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· MDE of 2 pp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44074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regression in page load time or CTR on top results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0972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6400" dirty="0"/>
          </a:p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200400" y="3520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4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4343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by: Raghav Rao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Zepto Search Drop Optimization</dc:title>
  <dc:subject>PptxGenJS Presentation</dc:subject>
  <dc:creator>PptxGenJS</dc:creator>
  <cp:lastModifiedBy>PptxGenJS</cp:lastModifiedBy>
  <cp:revision>1</cp:revision>
  <dcterms:created xsi:type="dcterms:W3CDTF">2026-06-23T12:19:00Z</dcterms:created>
  <dcterms:modified xsi:type="dcterms:W3CDTF">2026-06-23T12:19:00Z</dcterms:modified>
</cp:coreProperties>
</file>